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2342"/>
                </a:solidFill>
                <a:latin typeface="Arial"/>
              </a:rPr>
              <a:t>Illustrative Pilot Target — Benefit Claim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 Claim Rate</c:v>
                </c:pt>
              </c:strCache>
            </c:strRef>
          </c:tx>
          <c:spPr>
            <a:solidFill>
              <a:srgbClr val="5B6B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8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 (no nudge)</c:v>
                  </c:pt>
                  <c:pt idx="1">
                    <c:v>BenefitIQ Nudged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605272" y="1051560"/>
            <a:ext cx="960120" cy="96012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5" name="Image 0" descr="/home/claude/benefitiq/icons/doll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888" y="1181176"/>
            <a:ext cx="700888" cy="700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CODESTREET  •  BENEFIT-UNDERUTILIZATION ANALYTICS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269748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BenefitIQ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unclaimed card value into measurable, real-time engagement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   •   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Karunya Institute of Technology and Sciences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members don't know what they're leaving unclaimed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rewards cardholders are sitting on some unused cash back, points, or miles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LendingTree, 2022 survey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4F1EA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709160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rewards cardholders redeemed nothing at all in the past year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0916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LendingTree, 2022 survey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4F1EA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549640" y="33375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cardholders claimed zero rewards over a 12-month period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4964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CreditCards.com poll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describe rewards points specifically. Protection &amp; insurance-style benefits — this challenge's focus — have no running balance to remind a cardholder they exist, so real underutilization is likely higher still.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4572000"/>
            <a:ext cx="3108960" cy="310896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BenefitIQ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value you've already paid for.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77240" cy="77724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7" name="Image 0" descr="/home/claude/benefitiq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567" y="2390927"/>
            <a:ext cx="567385" cy="5673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every transaction against the full benefit-entitlement catalog in real time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89120" y="2286000"/>
            <a:ext cx="777240" cy="77724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1" name="Image 1" descr="/home/claude/benefitiq/icons/doll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047" y="2390927"/>
            <a:ext cx="567385" cy="567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389120" y="37033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every unclaimed entitlement in real dollars, not a vague “you have perks” flag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2286000"/>
            <a:ext cx="777240" cy="77724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5" name="Image 2" descr="/home/claude/benefitiq/icons/z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527" y="2390927"/>
            <a:ext cx="567385" cy="5673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2461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229600" y="37033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and deliver the one nudge that matters — explained, timed, and rate-limited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two connected experiences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11096" y="2331720"/>
            <a:ext cx="1051560" cy="1051560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5" name="Image 0" descr="/home/claude/benefitiq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3057" y="2473681"/>
            <a:ext cx="767639" cy="7676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5336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45336" y="39136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72384" y="2775204"/>
            <a:ext cx="557784" cy="164592"/>
          </a:xfrm>
          <a:prstGeom prst="rightArrow">
            <a:avLst/>
          </a:prstGeom>
          <a:solidFill>
            <a:srgbClr val="B8892B"/>
          </a:solidFill>
          <a:ln/>
        </p:spPr>
      </p:sp>
      <p:sp>
        <p:nvSpPr>
          <p:cNvPr id="9" name="Shape 6"/>
          <p:cNvSpPr/>
          <p:nvPr/>
        </p:nvSpPr>
        <p:spPr>
          <a:xfrm>
            <a:off x="3739896" y="2331720"/>
            <a:ext cx="1051560" cy="1051560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10" name="Image 1" descr="/home/claude/benefitiq/icons/gitmer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857" y="2473681"/>
            <a:ext cx="767639" cy="7676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4136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74136" y="39136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01184" y="2775204"/>
            <a:ext cx="557784" cy="164592"/>
          </a:xfrm>
          <a:prstGeom prst="rightArrow">
            <a:avLst/>
          </a:prstGeom>
          <a:solidFill>
            <a:srgbClr val="B8892B"/>
          </a:solidFill>
          <a:ln/>
        </p:spPr>
      </p:sp>
      <p:sp>
        <p:nvSpPr>
          <p:cNvPr id="14" name="Shape 10"/>
          <p:cNvSpPr/>
          <p:nvPr/>
        </p:nvSpPr>
        <p:spPr>
          <a:xfrm>
            <a:off x="5568696" y="2331720"/>
            <a:ext cx="1051560" cy="1051560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15" name="Image 2" descr="/home/claude/benefitiq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657" y="2473681"/>
            <a:ext cx="767639" cy="7676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02936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202936" y="39136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29984" y="2775204"/>
            <a:ext cx="557784" cy="164592"/>
          </a:xfrm>
          <a:prstGeom prst="rightArrow">
            <a:avLst/>
          </a:prstGeom>
          <a:solidFill>
            <a:srgbClr val="B8892B"/>
          </a:solidFill>
          <a:ln/>
        </p:spPr>
      </p:sp>
      <p:sp>
        <p:nvSpPr>
          <p:cNvPr id="19" name="Shape 14"/>
          <p:cNvSpPr/>
          <p:nvPr/>
        </p:nvSpPr>
        <p:spPr>
          <a:xfrm>
            <a:off x="7397496" y="2331720"/>
            <a:ext cx="1051560" cy="1051560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20" name="Image 3" descr="/home/claude/benefitiq/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457" y="2473681"/>
            <a:ext cx="767639" cy="7676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31736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031736" y="39136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558784" y="2775204"/>
            <a:ext cx="557784" cy="164592"/>
          </a:xfrm>
          <a:prstGeom prst="rightArrow">
            <a:avLst/>
          </a:prstGeom>
          <a:solidFill>
            <a:srgbClr val="B8892B"/>
          </a:solidFill>
          <a:ln/>
        </p:spPr>
      </p:sp>
      <p:sp>
        <p:nvSpPr>
          <p:cNvPr id="24" name="Shape 18"/>
          <p:cNvSpPr/>
          <p:nvPr/>
        </p:nvSpPr>
        <p:spPr>
          <a:xfrm>
            <a:off x="9226296" y="2331720"/>
            <a:ext cx="1051560" cy="1051560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25" name="Image 4" descr="/home/claude/benefitiq/icons/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257" y="2473681"/>
            <a:ext cx="767639" cy="76763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60536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8860536" y="391363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moment,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Member Experience  →  “Value You're Missing” dashboard          Business Analyst Experience  →  Portfolio ROI dashboard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Seven Scalable Layers</a:t>
            </a:r>
            <a:endParaRPr lang="en-US" sz="3200" dirty="0"/>
          </a:p>
        </p:txBody>
      </p:sp>
      <p:pic>
        <p:nvPicPr>
          <p:cNvPr id="4" name="Image 0" descr="/home/claude/benefitiq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1691640"/>
            <a:ext cx="6940296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decision system, not a reporting tool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658368" cy="658368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6" name="Image 0" descr="/home/claude/benefitiq/icons/netwo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552" y="2256008"/>
            <a:ext cx="480609" cy="4806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Benefit-entitlement graph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5877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benefits live in a structured catalog, not hardcoded rules — onboarding a new product is a config change, not a rebuild.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67128"/>
            <a:ext cx="658368" cy="658368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1" name="Image 1" descr="/home/claude/benefitiq/icons/gitmer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552" y="2256008"/>
            <a:ext cx="480609" cy="4806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rules + ML matching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5877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 deterministic and auditable; nudge timing is a learned, adaptive propensity score.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361688"/>
            <a:ext cx="658368" cy="658368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6" name="Image 2" descr="/home/claude/benefitiq/icons/doll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52" y="4450568"/>
            <a:ext cx="480609" cy="4806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Probability-weighted valuation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782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is priced from real redemption-value distributions and fires on contextual, event-based triggers.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361688"/>
            <a:ext cx="658368" cy="658368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21" name="Image 3" descr="/home/claude/benefitiq/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552" y="4450568"/>
            <a:ext cx="480609" cy="48060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explainability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782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attaches a plain-language reason to every nudge — for member trust and compliance audit trails.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 — Exactly What This Theme Calls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6" name="Image 0" descr="/home/claude/benefitiq/icons/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432" y="2329160"/>
            <a:ext cx="480609" cy="4806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(Member)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Next.js,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Tailwind, shadcn/ui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08276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10" name="Shape 7"/>
          <p:cNvSpPr/>
          <p:nvPr/>
        </p:nvSpPr>
        <p:spPr>
          <a:xfrm>
            <a:off x="2647188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11" name="Image 1" descr="/home/claude/benefitiq/icons/bar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68" y="2329160"/>
            <a:ext cx="480609" cy="4806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1428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(Analyst)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281428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Embedded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867912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15" name="Shape 11"/>
          <p:cNvSpPr/>
          <p:nvPr/>
        </p:nvSpPr>
        <p:spPr>
          <a:xfrm>
            <a:off x="4306824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16" name="Image 2" descr="/home/claude/benefitiq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704" y="2329160"/>
            <a:ext cx="480609" cy="4806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41064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APIs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41064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gateway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527548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20" name="Shape 15"/>
          <p:cNvSpPr/>
          <p:nvPr/>
        </p:nvSpPr>
        <p:spPr>
          <a:xfrm>
            <a:off x="5966460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21" name="Image 3" descr="/home/claude/benefitiq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340" y="2329160"/>
            <a:ext cx="480609" cy="48060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00700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600700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187184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25" name="Shape 19"/>
          <p:cNvSpPr/>
          <p:nvPr/>
        </p:nvSpPr>
        <p:spPr>
          <a:xfrm>
            <a:off x="7626096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26" name="Image 4" descr="/home/claude/benefitiq/icons/cpu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4976" y="2329160"/>
            <a:ext cx="480609" cy="48060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0336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260336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scikit-learn,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846820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30" name="Shape 23"/>
          <p:cNvSpPr/>
          <p:nvPr/>
        </p:nvSpPr>
        <p:spPr>
          <a:xfrm>
            <a:off x="9285732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31" name="Image 5" descr="/home/claude/benefitiq/icon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612" y="2329160"/>
            <a:ext cx="480609" cy="48060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9972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Platform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919972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EventBridge, S3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10506456" y="1965960"/>
            <a:ext cx="1536192" cy="2286000"/>
          </a:xfrm>
          <a:prstGeom prst="roundRect">
            <a:avLst>
              <a:gd name="adj" fmla="val 5952"/>
            </a:avLst>
          </a:prstGeom>
          <a:solidFill>
            <a:srgbClr val="F4F1EA"/>
          </a:solidFill>
          <a:ln/>
        </p:spPr>
      </p:sp>
      <p:sp>
        <p:nvSpPr>
          <p:cNvPr id="35" name="Shape 27"/>
          <p:cNvSpPr/>
          <p:nvPr/>
        </p:nvSpPr>
        <p:spPr>
          <a:xfrm>
            <a:off x="10945368" y="2240280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36" name="Image 6" descr="/home/claude/benefitiq/icons/layer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4248" y="2329160"/>
            <a:ext cx="480609" cy="48060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79608" y="301752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579608" y="3566160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BigQuery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MEMBER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“Value You're Missing” — In the App They Already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297680" cy="5120640"/>
          </a:xfrm>
          <a:prstGeom prst="roundRect">
            <a:avLst>
              <a:gd name="adj" fmla="val 4681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27000" dist="38100" dir="5400000">
              <a:srgbClr val="66666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UNCLAIMED 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B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6012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benefits this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Delay Insurance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77640" y="3246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3520440"/>
            <a:ext cx="3657600" cy="128016"/>
          </a:xfrm>
          <a:prstGeom prst="roundRect">
            <a:avLst>
              <a:gd name="adj" fmla="val 50000"/>
            </a:avLst>
          </a:prstGeom>
          <a:solidFill>
            <a:srgbClr val="1E3A63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520440"/>
            <a:ext cx="2651760" cy="128016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Protection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77640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4069080"/>
            <a:ext cx="3657600" cy="128016"/>
          </a:xfrm>
          <a:prstGeom prst="roundRect">
            <a:avLst>
              <a:gd name="adj" fmla="val 50000"/>
            </a:avLst>
          </a:prstGeom>
          <a:solidFill>
            <a:srgbClr val="1E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069080"/>
            <a:ext cx="1792224" cy="128016"/>
          </a:xfrm>
          <a:prstGeom prst="roundRect">
            <a:avLst>
              <a:gd name="adj" fmla="val 50000"/>
            </a:avLst>
          </a:prstGeom>
          <a:solidFill>
            <a:srgbClr val="D9B4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43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Access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640" y="4343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4617720"/>
            <a:ext cx="3657600" cy="128016"/>
          </a:xfrm>
          <a:prstGeom prst="roundRect">
            <a:avLst>
              <a:gd name="adj" fmla="val 50000"/>
            </a:avLst>
          </a:prstGeom>
          <a:solidFill>
            <a:srgbClr val="1E3A63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617720"/>
            <a:ext cx="1188720" cy="128016"/>
          </a:xfrm>
          <a:prstGeom prst="roundRect">
            <a:avLst>
              <a:gd name="adj" fmla="val 50000"/>
            </a:avLst>
          </a:prstGeom>
          <a:solidFill>
            <a:srgbClr val="8FA6C9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92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Warranty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77640" y="4892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5166360"/>
            <a:ext cx="3657600" cy="128016"/>
          </a:xfrm>
          <a:prstGeom prst="roundRect">
            <a:avLst>
              <a:gd name="adj" fmla="val 50000"/>
            </a:avLst>
          </a:prstGeom>
          <a:solidFill>
            <a:srgbClr val="1E3A63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5166360"/>
            <a:ext cx="621792" cy="12801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59161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9161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Now 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1691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immediate comprehension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394960" y="2359152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221284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a single dollar figure — the number a member actually cares about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291840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30" name="Text 28"/>
          <p:cNvSpPr/>
          <p:nvPr/>
        </p:nvSpPr>
        <p:spPr>
          <a:xfrm>
            <a:off x="5687568" y="314553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 built with recharts, matching production dashboard patterns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4224528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687568" y="407822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claim / activation path for every detected benefit, before it expires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94960" y="5157216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34" name="Text 32"/>
          <p:cNvSpPr/>
          <p:nvPr/>
        </p:nvSpPr>
        <p:spPr>
          <a:xfrm>
            <a:off x="5687568" y="501091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Expiring-soon benefits are visually flagged to create timely, not spammy, urgency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Signal, Rolled Up Into a Defensible ROI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11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unclaimed value by card product, tenure, and geography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80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before/after engagement uplift for every nudge campaign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109728" cy="109728"/>
          </a:xfrm>
          <a:prstGeom prst="ellipse">
            <a:avLst/>
          </a:prstGeom>
          <a:solidFill>
            <a:srgbClr val="B8892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benefit-package design from a guess into a measured decision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26480" y="187452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12648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target to validate through a live A/B pilot — not a measured result.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Benefit, Right Member, Right Moment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6" name="Image 0" descr="/home/claude/benefitiq/icon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552" y="2256008"/>
            <a:ext cx="480609" cy="4806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Event-triggered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5877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flight booking fires a travel-delay-insurance nudge within its relevant window.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67128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11" name="Image 1" descr="/home/claude/benefitiq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552" y="2256008"/>
            <a:ext cx="480609" cy="4806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Decay-based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5877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nearing their redemption deadline surface automatically before they expire.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361688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16" name="Image 2" descr="/home/claude/benefitiq/icons/tren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52" y="4450568"/>
            <a:ext cx="480609" cy="4806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Threshold-based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782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unclaimed value crossing a meaningful figure triggers a summary nudge.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361688"/>
            <a:ext cx="658368" cy="658368"/>
          </a:xfrm>
          <a:prstGeom prst="ellipse">
            <a:avLst/>
          </a:prstGeom>
          <a:solidFill>
            <a:srgbClr val="0A2342"/>
          </a:solidFill>
          <a:ln/>
        </p:spPr>
      </p:sp>
      <p:pic>
        <p:nvPicPr>
          <p:cNvPr id="21" name="Image 3" descr="/home/claude/benefitiq/icons/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552" y="4450568"/>
            <a:ext cx="480609" cy="48060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Propensity-ranked &amp; explained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78231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ranks who is likely to act; SHAP attaches a reason to every score — no blind broadcasts.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331720"/>
            <a:ext cx="822960" cy="82296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6" name="Image 0" descr="/home/claude/benefitiq/icons/targ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2442820"/>
            <a:ext cx="600761" cy="6007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&amp; Recall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mapping validated against a labeled synthetic test set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2331720"/>
            <a:ext cx="822960" cy="82296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1" name="Image 1" descr="/home/claude/benefitiq/icons/activit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360" y="2442820"/>
            <a:ext cx="600761" cy="6007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AUC-ROC &amp; Calibration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40233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 scored on both accuracy and calibration quality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sp>
        <p:nvSpPr>
          <p:cNvPr id="15" name="Shape 11"/>
          <p:cNvSpPr/>
          <p:nvPr/>
        </p:nvSpPr>
        <p:spPr>
          <a:xfrm>
            <a:off x="7292340" y="2331720"/>
            <a:ext cx="822960" cy="82296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6" name="Image 2" descr="/home/claude/benefitiq/icon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440" y="2442820"/>
            <a:ext cx="600761" cy="6007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2s Latency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29400" y="40233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target from transaction ingestion to nudge decision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26880" y="19659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1EA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18420" y="2331720"/>
            <a:ext cx="822960" cy="82296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21" name="Image 3" descr="/home/claude/benefitiq/icons/spli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520" y="2442820"/>
            <a:ext cx="600761" cy="600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0" y="33375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A/B Uplift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55480" y="40233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Nudged vs. matched control cohort, before any real campaign spend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Scale, Built to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80760" y="1691640"/>
            <a:ext cx="0" cy="4480560"/>
          </a:xfrm>
          <a:prstGeom prst="line">
            <a:avLst/>
          </a:prstGeom>
          <a:noFill/>
          <a:ln w="19050">
            <a:solidFill>
              <a:srgbClr val="2C4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7" name="Image 0" descr="/home/claude/benefitiq/icons/lay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75" y="2362535"/>
            <a:ext cx="413857" cy="4138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Catalog-driven onboarding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2606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card products = a config change, not a rebuild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1" name="Image 1" descr="/home/claude/benefitiq/icons/server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75" y="3414095"/>
            <a:ext cx="413857" cy="4138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Horizontally scalable services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3657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containers scale out under peak load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15" name="Image 2" descr="/home/claude/benefitiq/icons/clou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5" y="4465655"/>
            <a:ext cx="413857" cy="4138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Elastic, event-driven core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80160" y="4709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Lambda/EventBridge — cost tracks real transaction volume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008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B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2286000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0" name="Image 3" descr="/home/claude/benefitiq/icons/users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335" y="2362535"/>
            <a:ext cx="413857" cy="41385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13232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see paid-for value in dollars are less likely to churn at renewal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0" y="3337560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4" name="Image 4" descr="/home/claude/benefitiq/icons/trending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335" y="3414095"/>
            <a:ext cx="413857" cy="41385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Perceived value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13232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AmEx's premium positioning by surfacing its least-visible benefits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400800" y="4389120"/>
            <a:ext cx="566928" cy="566928"/>
          </a:xfrm>
          <a:prstGeom prst="ellipse">
            <a:avLst/>
          </a:prstGeom>
          <a:solidFill>
            <a:srgbClr val="132A4C"/>
          </a:solidFill>
          <a:ln/>
        </p:spPr>
      </p:sp>
      <p:pic>
        <p:nvPicPr>
          <p:cNvPr id="28" name="Image 5" descr="/home/claude/benefitiq/icons/barchar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335" y="4465655"/>
            <a:ext cx="413857" cy="41385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intelligence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132320" y="4709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dollar-denominated view of which benefits chronically go unused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194560"/>
            <a:ext cx="731520" cy="73152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6" name="Image 0" descr="/home/claude/benefitiq/icons/fla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855" y="2293315"/>
            <a:ext cx="534010" cy="534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— Now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catalog &amp; synthetic dataset design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algorithm design (this deck)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194560"/>
            <a:ext cx="731520" cy="73152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1" name="Image 1" descr="/home/claude/benefitiq/icons/z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293315"/>
            <a:ext cx="534010" cy="5340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— If Shortlisted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mapping + gap engines on synthetic data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propensity model + SHAP explanations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with a live nudge simulation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24060" y="2194560"/>
            <a:ext cx="731520" cy="73152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16" name="Image 2" descr="/home/claude/benefitiq/icons/aw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2293315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Hackathon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4964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sandboxed, anonymized real data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A/B nudge campaign with real members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catalog across the full AmEx product suite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206240" cy="420624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4" name="Shape 2"/>
          <p:cNvSpPr/>
          <p:nvPr/>
        </p:nvSpPr>
        <p:spPr>
          <a:xfrm>
            <a:off x="5605272" y="1417320"/>
            <a:ext cx="960120" cy="960120"/>
          </a:xfrm>
          <a:prstGeom prst="ellipse">
            <a:avLst/>
          </a:prstGeom>
          <a:solidFill>
            <a:srgbClr val="B8892B"/>
          </a:solidFill>
          <a:ln/>
        </p:spPr>
      </p:sp>
      <p:pic>
        <p:nvPicPr>
          <p:cNvPr id="5" name="Image 0" descr="/home/claude/benefitiq/icons/doll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888" y="1546936"/>
            <a:ext cx="700888" cy="700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BenefitIQ — See the value you've already paid for.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•  [team.email@karunya.edu.in]  •  Karunya Institute of Technology and Sciences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2026-07-20T15:45:49Z</dcterms:created>
  <dcterms:modified xsi:type="dcterms:W3CDTF">2026-07-20T15:45:49Z</dcterms:modified>
</cp:coreProperties>
</file>